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12080" y="1828800"/>
            <a:ext cx="914400" cy="9144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3B82F6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8FAFF"/>
                </a:solidFill>
                <a:latin typeface="Calibri"/>
              </a:rPr>
              <a:t>ReturnShield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D3EE"/>
                </a:solidFill>
                <a:latin typeface="Calibri"/>
              </a:rPr>
              <a:t>Multi-Agent Fraud Detection Platform for E-Commerce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AC"/>
                </a:solidFill>
                <a:latin typeface="Calibri"/>
              </a:rPr>
              <a:t>Real-time verification  ·  Trained ML model  ·  Continuous learning  ·  Customer + Ops portals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93AC"/>
                </a:solidFill>
                <a:latin typeface="Calibri"/>
              </a:rPr>
              <a:t>Project Overview  —  Prototype built on synthetic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The 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Return fraud is a major, growing cost center</a:t>
            </a:r>
            <a:r>
              <a:rPr sz="1500">
                <a:solidFill>
                  <a:srgbClr val="C7CEE0"/>
                </a:solidFill>
                <a:latin typeface="Calibri"/>
              </a:rPr>
              <a:t>  —  retailers absorb losses from fraudulent and abusive returns every year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Manual review doesn't scale</a:t>
            </a:r>
            <a:r>
              <a:rPr sz="1500">
                <a:solidFill>
                  <a:srgbClr val="C7CEE0"/>
                </a:solidFill>
                <a:latin typeface="Calibri"/>
              </a:rPr>
              <a:t>  —  fraud/ops teams can't manually inspect every return as order volume grows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Fraud tactics keep evolving</a:t>
            </a:r>
            <a:r>
              <a:rPr sz="1500">
                <a:solidFill>
                  <a:srgbClr val="C7CEE0"/>
                </a:solidFill>
                <a:latin typeface="Calibri"/>
              </a:rPr>
              <a:t>  —  wardrobing, item-swap returns, counterfeit units, fake "item never arrived" claims, forged receipts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Most systems only look at one signal</a:t>
            </a:r>
            <a:r>
              <a:rPr sz="1500">
                <a:solidFill>
                  <a:srgbClr val="C7CEE0"/>
                </a:solidFill>
                <a:latin typeface="Calibri"/>
              </a:rPr>
              <a:t>  —  policy engines that just check "is this within the return window" miss sophisticated fraud entirely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544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COMMON RETURN-FRAUD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Wardrobing — using an item, then returning it as new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Item-swap — returning a different / cheaper / counterfeit unit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Serial-number swap — the classic "bait and switch"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"Never arrived" claims filed suspiciously fast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Brand/product mismatch between order and returned item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Repeat low-value return abuse on the same account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Forged or altered invoices / receipts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WHO IT'S FOR,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Business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▸  Retail / e-commerce fraud &amp; operations teams</a:t>
            </a:r>
            <a:r>
              <a:rPr sz="1600">
                <a:solidFill>
                  <a:srgbClr val="C7CEE0"/>
                </a:solidFill>
                <a:latin typeface="Calibri"/>
              </a:rPr>
              <a:t>  —  get an automated first-pass decision engine instead of reviewing every return by hand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▸  Customers get instant, fair decisions</a:t>
            </a:r>
            <a:r>
              <a:rPr sz="1600">
                <a:solidFill>
                  <a:srgbClr val="C7CEE0"/>
                </a:solidFill>
                <a:latin typeface="Calibri"/>
              </a:rPr>
              <a:t>  —  genuine returns are approved in seconds; only genuinely suspicious ones are held for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3474720"/>
            <a:ext cx="320040" cy="320040"/>
          </a:xfrm>
          <a:prstGeom prst="ellipse">
            <a:avLst/>
          </a:prstGeom>
          <a:solidFill>
            <a:srgbClr val="FF5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F"/>
                </a:solidFill>
                <a:latin typeface="Calibri"/>
              </a:rPr>
              <a:t>Reduce fraud 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CEE0"/>
                </a:solidFill>
                <a:latin typeface="Calibri"/>
              </a:rPr>
              <a:t>Catch product swaps, serial mismatches, and false claims automatically, before a refund is issued.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320040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34747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F"/>
                </a:solidFill>
                <a:latin typeface="Calibri"/>
              </a:rPr>
              <a:t>Cut manual review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44805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CEE0"/>
                </a:solidFill>
                <a:latin typeface="Calibri"/>
              </a:rPr>
              <a:t>Only flagged (MEDIUM/HIGH) cases reach the ops queue — low-risk returns auto-approve.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320040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75903" y="3474720"/>
            <a:ext cx="320040" cy="320040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3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F"/>
                </a:solidFill>
                <a:latin typeface="Calibri"/>
              </a:rPr>
              <a:t>Keep genuine customers happy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3" y="44805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CEE0"/>
                </a:solidFill>
                <a:latin typeface="Calibri"/>
              </a:rPr>
              <a:t>Legitimate returns — including honest wrong-size exchanges — are approved instantly, no friction.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A Two-Sided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Customer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Pick an order (or add one, with mandatory invoice proof)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Describe the issue to a live chat assistant (real-time NLP trust scoring)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Mandatory photo evidence: item photo, serial-number/label photo, invoice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Camera capture or upload — in-browser OCR and image classification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Instant decision: approved, under review, or declined — with categorical reasons, never raw scores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Company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Live, flagged-only case queue (low-risk returns don't clutter the view)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Full multi-agent decision trace per case — every score, every flag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Submitted evidence gallery: item photo, serial photo, invoice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Analyst comments: approve / reject / escalate, feeding the retraining loop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Fraud-rule tuning, audit log, customer risk profiles, CSV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HOW A RETURN GETS SCORED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Multi-Agent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7486" y="2377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7486" y="254203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Agent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486" y="2834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F"/>
                </a:solidFill>
                <a:latin typeface="Calibri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486" y="33375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Behavioral</a:t>
            </a:r>
          </a:p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statistics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72005" y="3063240"/>
            <a:ext cx="256032" cy="36576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28037" y="2377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8037" y="254203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Agent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8037" y="2834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F"/>
                </a:solidFill>
                <a:latin typeface="Calibri"/>
              </a:rPr>
              <a:t>NLP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8037" y="33375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Chat intent</a:t>
            </a:r>
          </a:p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&amp; honesty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02556" y="3063240"/>
            <a:ext cx="256032" cy="36576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58588" y="2377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8588" y="254203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Agent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8588" y="2834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F"/>
                </a:solidFill>
                <a:latin typeface="Calibri"/>
              </a:rP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8588" y="33375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Image</a:t>
            </a:r>
          </a:p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authenticity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33107" y="3063240"/>
            <a:ext cx="256032" cy="36576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89139" y="2377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9139" y="254203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Agent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9139" y="2834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F"/>
                </a:solidFill>
                <a:latin typeface="Calibri"/>
              </a:rPr>
              <a:t>ML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9139" y="33375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Trained fraud</a:t>
            </a:r>
          </a:p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probability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163658" y="3063240"/>
            <a:ext cx="256032" cy="36576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19690" y="2377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9690" y="254203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Agent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9690" y="2834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F"/>
                </a:solidFill>
                <a:latin typeface="Calibri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9690" y="33375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Final</a:t>
            </a:r>
          </a:p>
          <a:p>
            <a:pPr algn="ctr"/>
            <a:r>
              <a:rPr sz="1150" b="0" i="0">
                <a:solidFill>
                  <a:srgbClr val="8A93AC"/>
                </a:solidFill>
                <a:latin typeface="Calibri"/>
              </a:rP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7CEE0"/>
                </a:solidFill>
                <a:latin typeface="Calibri"/>
              </a:rPr>
              <a:t>+ Agent 6 — Invoice Verification (cross-checks receipts, runs alongside the pipeline above)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5029200"/>
            <a:ext cx="9418320" cy="1188720"/>
          </a:xfrm>
          <a:prstGeom prst="roundRect">
            <a:avLst>
              <a:gd name="adj" fmla="val 6000"/>
            </a:avLst>
          </a:prstGeom>
          <a:solidFill>
            <a:srgbClr val="040A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51663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7CEE0"/>
                </a:solidFill>
                <a:latin typeface="Calibri"/>
              </a:rPr>
              <a:t>Two pipelines, one shared feature contract: a synthetic-dataset pipeline (Agents 1–5 over 150 seed cases) and a live Customer-Portal pipeline — both feed the same trained model via one build_features() function, eliminating train/serve skew.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WHAT'S REAL AI VS. RULE-BASED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The Agents,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669280"/>
                <a:gridCol w="3657600"/>
              </a:tblGrid>
              <a:tr h="69233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D3EE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 marL="109728" marR="109728" anchor="ctr">
                    <a:solidFill>
                      <a:srgbClr val="040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D3EE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 marL="109728" marR="109728" anchor="ctr">
                    <a:solidFill>
                      <a:srgbClr val="040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D3EE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 marL="109728" marR="109728" anchor="ctr">
                    <a:solidFill>
                      <a:srgbClr val="040A1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F"/>
                          </a:solidFill>
                          <a:latin typeface="Calibri"/>
                        </a:defRPr>
                      </a:pPr>
                      <a:r>
                        <a:t>1 · Pattern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Behavioral red flags — return frequency, GPS mismatch, addresses, payment methods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Rule-based statistics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F"/>
                          </a:solidFill>
                          <a:latin typeface="Calibri"/>
                        </a:defRPr>
                      </a:pPr>
                      <a:r>
                        <a:t>2 · NLP Trust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Chat honesty — contradictions, abusive language, manipulation, copy-paste excuses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Regex/lexicon rules, or optional real Claude LLM call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F"/>
                          </a:solidFill>
                          <a:latin typeface="Calibri"/>
                        </a:defRPr>
                      </a:pPr>
                      <a:r>
                        <a:t>3 · Vision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Image authenticity — staged damage, reused photos, SKU mismatch (synthetic dataset)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Rule-based, modeled on real vision-model output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F"/>
                          </a:solidFill>
                          <a:latin typeface="Calibri"/>
                        </a:defRPr>
                      </a:pPr>
                      <a:r>
                        <a:t>4 · ML Model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Learned fraud probability from historical data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REAL trained RandomForest / CatBoost — selected by F1, explained via SHAP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F"/>
                          </a:solidFill>
                          <a:latin typeface="Calibri"/>
                        </a:defRPr>
                      </a:pPr>
                      <a:r>
                        <a:t>5 · Decision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Synthesizes every signal into one recommendation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Deterministic synthesis logic</a:t>
                      </a:r>
                    </a:p>
                  </a:txBody>
                  <a:tcPr marL="109728" marR="109728" anchor="ctr">
                    <a:solidFill>
                      <a:srgbClr val="111C3D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F"/>
                          </a:solidFill>
                          <a:latin typeface="Calibri"/>
                        </a:defRPr>
                      </a:pPr>
                      <a:r>
                        <a:t>6 · Invoice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Cross-checks receipts — amount, duplicate detection, date/timeline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C7CEE0"/>
                          </a:solidFill>
                          <a:latin typeface="Calibri"/>
                        </a:defRPr>
                      </a:pPr>
                      <a:r>
                        <a:t>Rule-based, OCR-fed</a:t>
                      </a:r>
                    </a:p>
                  </a:txBody>
                  <a:tcPr marL="109728" marR="109728" anchor="ctr">
                    <a:solidFill>
                      <a:srgbClr val="0A14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A93AC"/>
                </a:solidFill>
                <a:latin typeface="Calibri"/>
              </a:rPr>
              <a:t>Only Agent 4 is a trained statistical model today — the rest are transparent rule engines with a documented swap-in point for real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AGENT 4, NOT A RULE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The Real ML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4 candidates trained &amp; compared</a:t>
            </a:r>
            <a:r>
              <a:rPr sz="1450">
                <a:solidFill>
                  <a:srgbClr val="C7CEE0"/>
                </a:solidFill>
                <a:latin typeface="Calibri"/>
              </a:rPr>
              <a:t>  —  Random Forest, XGBoost, LightGBM, CatBoost — full precision/recall/F1/ROC-AUC benchmark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Best model auto-selected by F1 score</a:t>
            </a:r>
            <a:r>
              <a:rPr sz="1450">
                <a:solidFill>
                  <a:srgbClr val="C7CEE0"/>
                </a:solidFill>
                <a:latin typeface="Calibri"/>
              </a:rPr>
              <a:t>  —  currently CatBoost, on a masked/held-out test split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Explainable, not a black box</a:t>
            </a:r>
            <a:r>
              <a:rPr sz="1450">
                <a:solidFill>
                  <a:srgbClr val="C7CEE0"/>
                </a:solidFill>
                <a:latin typeface="Calibri"/>
              </a:rPr>
              <a:t>  —  SHAP feature importances surfaced per case and in the dashboard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Retrained on demand and on a schedule</a:t>
            </a:r>
            <a:r>
              <a:rPr sz="1450">
                <a:solidFill>
                  <a:srgbClr val="C7CEE0"/>
                </a:solidFill>
                <a:latin typeface="Calibri"/>
              </a:rPr>
              <a:t>  —  the weekly analyst-feedback loop can promote a new champion automatically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Honest about its limits</a:t>
            </a:r>
            <a:r>
              <a:rPr sz="1450">
                <a:solidFill>
                  <a:srgbClr val="C7CEE0"/>
                </a:solidFill>
                <a:latin typeface="Calibri"/>
              </a:rPr>
              <a:t>  —  the live Customer Portal only has real signal for 4 of the model's 14 features — this is documented, not hidden, and the model is trained with masking to compensate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554480"/>
            <a:ext cx="493776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TOP SHAP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CEE0"/>
                </a:solidFill>
                <a:latin typeface="Calibri"/>
              </a:rPr>
              <a:t>days_before_return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331720"/>
            <a:ext cx="2194560" cy="201168"/>
          </a:xfrm>
          <a:prstGeom prst="roundRect">
            <a:avLst/>
          </a:prstGeom>
          <a:solidFill>
            <a:srgbClr val="040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2331720"/>
            <a:ext cx="1865376" cy="20116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788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CEE0"/>
                </a:solidFill>
                <a:latin typeface="Calibri"/>
              </a:rPr>
              <a:t>gps_mismatch_km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834640"/>
            <a:ext cx="2194560" cy="201168"/>
          </a:xfrm>
          <a:prstGeom prst="roundRect">
            <a:avLst/>
          </a:prstGeom>
          <a:solidFill>
            <a:srgbClr val="040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987552" cy="20116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CEE0"/>
                </a:solidFill>
                <a:latin typeface="Calibri"/>
              </a:rPr>
              <a:t>addresses_used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337560"/>
            <a:ext cx="2194560" cy="201168"/>
          </a:xfrm>
          <a:prstGeom prst="roundRect">
            <a:avLst/>
          </a:prstGeom>
          <a:solidFill>
            <a:srgbClr val="040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3337560"/>
            <a:ext cx="482803" cy="20116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CEE0"/>
                </a:solidFill>
                <a:latin typeface="Calibri"/>
              </a:rPr>
              <a:t>account_age_days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840480"/>
            <a:ext cx="2194560" cy="201168"/>
          </a:xfrm>
          <a:prstGeom prst="roundRect">
            <a:avLst/>
          </a:prstGeom>
          <a:solidFill>
            <a:srgbClr val="040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3840480"/>
            <a:ext cx="307238" cy="20116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CEE0"/>
                </a:solidFill>
                <a:latin typeface="Calibri"/>
              </a:rPr>
              <a:t>prior_fraud_flags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343400"/>
            <a:ext cx="2194560" cy="201168"/>
          </a:xfrm>
          <a:prstGeom prst="roundRect">
            <a:avLst/>
          </a:prstGeom>
          <a:solidFill>
            <a:srgbClr val="040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4343400"/>
            <a:ext cx="263347" cy="20116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KILLING A REAL ML BUG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Feature Engineering &amp; Train/Serve Consistency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One shared feature contract</a:t>
            </a:r>
            <a:r>
              <a:rPr sz="1500">
                <a:solidFill>
                  <a:srgbClr val="C7CEE0"/>
                </a:solidFill>
                <a:latin typeface="Calibri"/>
              </a:rPr>
              <a:t>  —  features/feature_contract.py defines all 14 model features once, used by BOTH the training pipeline and the live API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No silent drift between training and serving</a:t>
            </a:r>
            <a:r>
              <a:rPr sz="1500">
                <a:solidFill>
                  <a:srgbClr val="C7CEE0"/>
                </a:solidFill>
                <a:latin typeface="Calibri"/>
              </a:rPr>
              <a:t>  —  the exact same build_features() function encodes category, payment type, warehouse, etc. everywhere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Documented defaults for what live data can't provide</a:t>
            </a:r>
            <a:r>
              <a:rPr sz="1500">
                <a:solidFill>
                  <a:srgbClr val="C7CEE0"/>
                </a:solidFill>
                <a:latin typeface="Calibri"/>
              </a:rPr>
              <a:t>  —  10 of 14 features have no live-portal equivalent (GPS, prior fraud flags, etc.) — these get honest, documented defaults, and training is masked to 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7CEE0"/>
                </a:solidFill>
                <a:latin typeface="Calibri"/>
              </a:rPr>
              <a:t>A model that performs great in training but poorly in production is one of the most common real-world ML failures — usually caused by the serving code computing features slightly differently than the training code. ReturnShield AI closes that gap architecturally: there is exactly one place a feature vector gets built, for both the historical dataset and every live customer submission.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REAL MODELS, RUNNING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Client-Side AI: Vision + OCR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Image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TensorFlow.js + MobileNet, loaded on demand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Classifies the submitted photo against 1,000 ImageNet categories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Flags when the photo doesn't match the order's expected category — e.g. a bottle photographed for an electronics return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Confidence-aware: only asserts a specific wrong object name when the model is actually confident, avoiding embarrassing false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Optical Character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Tesseract.js, a real trained OCR model, loaded on demand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Reads brand text directly off the item photo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Extracts retailer, total, and brand from any invoice/receipt photo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NEW: reads the product's serial number/label for identity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PRODUCT-MATCH &amp; SERIAL-NUMBER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Fraud Detection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7CEE0"/>
                </a:solidFill>
                <a:latin typeface="Calibri"/>
              </a:rPr>
              <a:t>Four independent evidence sources are cross-checked against the order record — strongest signal wins: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219456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FF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8027" y="2331720"/>
            <a:ext cx="411480" cy="411480"/>
          </a:xfrm>
          <a:prstGeom prst="ellipse">
            <a:avLst/>
          </a:prstGeom>
          <a:solidFill>
            <a:srgbClr val="FF5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A1E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2880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8FAFF"/>
                </a:solidFill>
                <a:latin typeface="Calibri"/>
              </a:rPr>
              <a:t>Serial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" y="3337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7CEE0"/>
                </a:solidFill>
                <a:latin typeface="Calibri"/>
              </a:rPr>
              <a:t>Photographed serial vs. the order's serial on file — an exact identifier match. Strongest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219456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12667" y="23317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A1E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2880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8FAFF"/>
                </a:solidFill>
                <a:latin typeface="Calibri"/>
              </a:rPr>
              <a:t>Photo brand 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2667" y="3337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7CEE0"/>
                </a:solidFill>
                <a:latin typeface="Calibri"/>
              </a:rPr>
              <a:t>Brand text read directly off the item photo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19456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7307" y="23317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A1E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880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8FAFF"/>
                </a:solidFill>
                <a:latin typeface="Calibri"/>
              </a:rPr>
              <a:t>Invoice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3337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7CEE0"/>
                </a:solidFill>
                <a:latin typeface="Calibri"/>
              </a:rPr>
              <a:t>Brand extracted from the attached receipt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219456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81947" y="2331720"/>
            <a:ext cx="411480" cy="411480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A1E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1947" y="2880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8FAFF"/>
                </a:solidFill>
                <a:latin typeface="Calibri"/>
              </a:rPr>
              <a:t>Image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1947" y="3337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7CEE0"/>
                </a:solidFill>
                <a:latin typeface="Calibri"/>
              </a:rPr>
              <a:t>Does the photo even look like the right category of item?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1772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040A1E"/>
          </a:solidFill>
          <a:ln w="12700">
            <a:solidFill>
              <a:srgbClr val="FF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470"/>
                </a:solidFill>
                <a:latin typeface="Calibri"/>
              </a:rPr>
              <a:t>REAL EXAMPLE FROM THIS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CEE0"/>
                </a:solidFill>
                <a:latin typeface="Calibri"/>
              </a:rPr>
              <a:t>Customer orders Nike Air Max shoes, photographs a pair of AirPods instead. A prior version of the image classifier had a race condition that let this slip through and auto-approve — found via direct testing, root-caused, and fixed by awaiting the classification promise before scoring. Now: instant HIGH-risk flag.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AGENT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NLP &amp; Conversational Trust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Live chat assistant on every return</a:t>
            </a:r>
            <a:r>
              <a:rPr sz="1450">
                <a:solidFill>
                  <a:srgbClr val="C7CEE0"/>
                </a:solidFill>
                <a:latin typeface="Calibri"/>
              </a:rPr>
              <a:t>  —  customer explains what happened, in their own words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Real-time intent &amp; honesty scoring</a:t>
            </a:r>
            <a:r>
              <a:rPr sz="1450">
                <a:solidFill>
                  <a:srgbClr val="C7CEE0"/>
                </a:solidFill>
                <a:latin typeface="Calibri"/>
              </a:rPr>
              <a:t>  —  detects contradictions ("never arrived" vs. "delivered"), abusive/manipulative language, copy-paste excuse templates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Multi-turn aware</a:t>
            </a:r>
            <a:r>
              <a:rPr sz="1450">
                <a:solidFill>
                  <a:srgbClr val="C7CEE0"/>
                </a:solidFill>
                <a:latin typeface="Calibri"/>
              </a:rPr>
              <a:t>  —  catches a story that changes between messages, not just single-message red flags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Optional real LLM upgrade</a:t>
            </a:r>
            <a:r>
              <a:rPr sz="1450">
                <a:solidFill>
                  <a:srgbClr val="C7CEE0"/>
                </a:solidFill>
                <a:latin typeface="Calibri"/>
              </a:rPr>
              <a:t>  —  USE_LLM_NLP=1 routes scoring through a real Claude call instead of the regex engine, with automatic fallback on any error — the demo stays fully offline by default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Never shown to the customer</a:t>
            </a:r>
            <a:r>
              <a:rPr sz="1450">
                <a:solidFill>
                  <a:srgbClr val="C7CEE0"/>
                </a:solidFill>
                <a:latin typeface="Calibri"/>
              </a:rPr>
              <a:t>  —  scores and flags are for the fraud team only — customers get plain-language reasons, never a number to game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502920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SIGNALS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>
                <a:solidFill>
                  <a:srgbClr val="C7CEE0"/>
                </a:solidFill>
                <a:latin typeface="Calibri"/>
              </a:rPr>
              <a:t>▸  Delivery-status contradictions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C7CEE0"/>
                </a:solidFill>
                <a:latin typeface="Calibri"/>
              </a:rPr>
              <a:t>▸  Hostile / abusive language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C7CEE0"/>
                </a:solidFill>
                <a:latin typeface="Calibri"/>
              </a:rPr>
              <a:t>▸  Urgency &amp; manipulation tactics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C7CEE0"/>
                </a:solidFill>
                <a:latin typeface="Calibri"/>
              </a:rPr>
              <a:t>▸  Copy-paste excuse templates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C7CEE0"/>
                </a:solidFill>
                <a:latin typeface="Calibri"/>
              </a:rPr>
              <a:t>▸  Vague, dodging non-answers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C7CEE0"/>
                </a:solidFill>
                <a:latin typeface="Calibri"/>
              </a:rPr>
              <a:t>▸  Story changing across 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THE MODEL GETS BETTER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Continuous Learning: Weekly Retraining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Analyst decisions become training data</a:t>
            </a:r>
            <a:r>
              <a:rPr sz="1450">
                <a:solidFill>
                  <a:srgbClr val="C7CEE0"/>
                </a:solidFill>
                <a:latin typeface="Calibri"/>
              </a:rPr>
              <a:t>  —  every approve/reject on a live case is a new labeled example for the model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Safety-gated promotion</a:t>
            </a:r>
            <a:r>
              <a:rPr sz="1450">
                <a:solidFill>
                  <a:srgbClr val="C7CEE0"/>
                </a:solidFill>
                <a:latin typeface="Calibri"/>
              </a:rPr>
              <a:t>  —  a candidate model only replaces production if it beats the CURRENT model on a fixed, freshly-re-scored test set — never a stale metric, never a downgrade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Dual trigger for real-world reliability</a:t>
            </a:r>
            <a:r>
              <a:rPr sz="1450">
                <a:solidFill>
                  <a:srgbClr val="C7CEE0"/>
                </a:solidFill>
                <a:latin typeface="Calibri"/>
              </a:rPr>
              <a:t>  —  an in-process hourly check, plus a GitHub Actions cron hitting a protected endpoint — so it fires even if the server was scaled to zero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3749039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3977639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3C5FD"/>
                </a:solidFill>
                <a:latin typeface="Calibri"/>
              </a:rPr>
              <a:t>1. 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452627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CEE0"/>
                </a:solidFill>
                <a:latin typeface="Calibri"/>
              </a:rPr>
              <a:t>Analyst approves/rejects a case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46907" y="4663439"/>
            <a:ext cx="228600" cy="32004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75507" y="3749039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8387" y="3977639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2. Retrain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8387" y="452627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CEE0"/>
                </a:solidFill>
                <a:latin typeface="Calibri"/>
              </a:rPr>
              <a:t>New model trained on synthetic + labeled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1547" y="4663439"/>
            <a:ext cx="228600" cy="32004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0147" y="3749039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3977639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3. 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452627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CEE0"/>
                </a:solidFill>
                <a:latin typeface="Calibri"/>
              </a:rPr>
              <a:t>Scored on a fixed held-out test set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16187" y="4663439"/>
            <a:ext cx="228600" cy="320040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4787" y="3749039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7667" y="3977639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DC97"/>
                </a:solidFill>
                <a:latin typeface="Calibri"/>
              </a:rPr>
              <a:t>4. Promote or archive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7667" y="452627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CEE0"/>
                </a:solidFill>
                <a:latin typeface="Calibri"/>
              </a:rPr>
              <a:t>Only replaces production if it's actually better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REAL PERSISTENCE, GRACEFUL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Backend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FastAPI REST backend</a:t>
            </a:r>
            <a:r>
              <a:rPr sz="1450">
                <a:solidFill>
                  <a:srgbClr val="C7CEE0"/>
                </a:solidFill>
                <a:latin typeface="Calibri"/>
              </a:rPr>
              <a:t>  —  clean, typed request/response models for every endpoint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SQLite persistence</a:t>
            </a:r>
            <a:r>
              <a:rPr sz="1450">
                <a:solidFill>
                  <a:srgbClr val="C7CEE0"/>
                </a:solidFill>
                <a:latin typeface="Calibri"/>
              </a:rPr>
              <a:t>  —  cases, analyst comments, audit log, fraud-rule settings, and labeled outcomes all survive restarts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Graceful degradation, by design</a:t>
            </a:r>
            <a:r>
              <a:rPr sz="1450">
                <a:solidFill>
                  <a:srgbClr val="C7CEE0"/>
                </a:solidFill>
                <a:latin typeface="Calibri"/>
              </a:rPr>
              <a:t>  —  if the backend is unreachable, the dashboard falls back to a full client-side scoring mirror — same pattern used for camera, OCR, and every AI feature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Configurable fraud rules</a:t>
            </a:r>
            <a:r>
              <a:rPr sz="1450">
                <a:solidFill>
                  <a:srgbClr val="C7CEE0"/>
                </a:solidFill>
                <a:latin typeface="Calibri"/>
              </a:rPr>
              <a:t>  —  return-rate thresholds, low/high-value cutoffs, and more — tunable from the dashboard, no redeploy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554480"/>
            <a:ext cx="493776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WHAT'S PERSISTED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Every case + full evidence (photos, OCR results)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Analyst comments &amp; decisions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Full audit log (who did what, when)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Fraud-rule configuration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Labeled outcomes for retraining</a:t>
            </a:r>
          </a:p>
          <a:p>
            <a:pPr>
              <a:spcAft>
                <a:spcPts val="11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Customer return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BUILT FOR A PUBLIC-FACING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Security &amp;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Site-wide access gate</a:t>
            </a:r>
            <a:r>
              <a:rPr sz="1500">
                <a:solidFill>
                  <a:srgbClr val="C7CEE0"/>
                </a:solidFill>
                <a:latin typeface="Calibri"/>
              </a:rPr>
              <a:t>  —  an optional passphrase screen for demoing publicly without being casually discoverable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Separate admin secret for retraining</a:t>
            </a:r>
            <a:r>
              <a:rPr sz="1500">
                <a:solidFill>
                  <a:srgbClr val="C7CEE0"/>
                </a:solidFill>
                <a:latin typeface="Calibri"/>
              </a:rPr>
              <a:t>  —  the endpoint that can overwrite the production model uses its own secret, closed by default (refuses if unset) — a deliberately stricter default than the demo gate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Role-based views</a:t>
            </a:r>
            <a:r>
              <a:rPr sz="1500">
                <a:solidFill>
                  <a:srgbClr val="C7CEE0"/>
                </a:solidFill>
                <a:latin typeface="Calibri"/>
              </a:rPr>
              <a:t>  —  Customer and Admin see different data and different capabilities — customers never see fraud scores or internal flags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Client never asserts the verdict</a:t>
            </a:r>
            <a:r>
              <a:rPr sz="1500">
                <a:solidFill>
                  <a:srgbClr val="C7CEE0"/>
                </a:solidFill>
                <a:latin typeface="Calibri"/>
              </a:rPr>
              <a:t>  —  the backend always recomputes mismatch/fraud determinations from raw evidence — the client can report facts, never a trusted "this is fraud" flag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Every fallback is visible, never silent</a:t>
            </a:r>
            <a:r>
              <a:rPr sz="1500">
                <a:solidFill>
                  <a:srgbClr val="C7CEE0"/>
                </a:solidFill>
                <a:latin typeface="Calibri"/>
              </a:rPr>
              <a:t>  —  scoring_engine and nlp_engine fields record exactly which engine handled each case — model vs. rules fallback, regex vs.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GLASSMORPHISM, DARK &amp; LIGHT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Modern, Polished UI/UX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Enhanced glassmorphism design system</a:t>
            </a:r>
            <a:r>
              <a:rPr sz="1450">
                <a:solidFill>
                  <a:srgbClr val="C7CEE0"/>
                </a:solidFill>
                <a:latin typeface="Calibri"/>
              </a:rPr>
              <a:t>  —  frosted, layered glass panels with soft blue ambient glow — consistent across every screen</a:t>
            </a:r>
          </a:p>
          <a:p>
            <a:pPr>
              <a:spcAft>
                <a:spcPts val="15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Dark mode &amp; light mode</a:t>
            </a:r>
            <a:r>
              <a:rPr sz="1450">
                <a:solidFill>
                  <a:srgbClr val="C7CEE0"/>
                </a:solidFill>
                <a:latin typeface="Calibri"/>
              </a:rPr>
              <a:t>  —  one click toggles the entire app between the navy theme and a warm beige theme, both fully accessibility-checked for contrast</a:t>
            </a:r>
          </a:p>
          <a:p>
            <a:pPr>
              <a:spcAft>
                <a:spcPts val="15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Installable Progressive Web App</a:t>
            </a:r>
            <a:r>
              <a:rPr sz="1450">
                <a:solidFill>
                  <a:srgbClr val="C7CEE0"/>
                </a:solidFill>
                <a:latin typeface="Calibri"/>
              </a:rPr>
              <a:t>  —  add-to-home-screen support with offline app-shell caching</a:t>
            </a:r>
          </a:p>
          <a:p>
            <a:pPr>
              <a:spcAft>
                <a:spcPts val="15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▸  Fully responsive</a:t>
            </a:r>
            <a:r>
              <a:rPr sz="1450">
                <a:solidFill>
                  <a:srgbClr val="C7CEE0"/>
                </a:solidFill>
                <a:latin typeface="Calibri"/>
              </a:rPr>
              <a:t>  —  camera capture, chat, and evidence review all work smoothly on 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5029200" cy="457200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DESIGN DETAILS THAT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Every risk badge WCAG-contrast-checked in both themes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Consistent 3-tone blue accent system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Real photo evidence always shown to analysts, not just labels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C7CEE0"/>
                </a:solidFill>
                <a:latin typeface="Calibri"/>
              </a:rPr>
              <a:t>▸  Categorical, non-technical rejection reasons for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EVERYTHING RUNNING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Tech Stack &amp; Packages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D3EE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Python 3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FastAPI + uvicorn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SQLite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Pydantic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D3EE"/>
                </a:solidFill>
                <a:latin typeface="Calibri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scikit-learn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XGBoost / LightGBM / CatBoost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SHAP (explainability)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pandas / numpy / joblib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91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D3EE"/>
                </a:solidFill>
                <a:latin typeface="Calibri"/>
              </a:rPr>
              <a:t>Client-Side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TensorFlow.js + MobileNet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Tesseract.js (OCR)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Anthropic Claude (optional LLM)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D3EE"/>
                </a:solidFill>
                <a:latin typeface="Calibr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Vanilla HTML / CSS / JS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No framework — fast, dependency-light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Progressive Web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8862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023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D3EE"/>
                </a:solidFill>
                <a:latin typeface="Calibri"/>
              </a:rPr>
              <a:t>Testing &amp; Tooling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34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Python unittest (34+ tests)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Playwright (real browser verification)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GitHub Actions (scheduled retraining)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862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11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023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D3EE"/>
                </a:solidFill>
                <a:latin typeface="Calibri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34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Docker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Fly.io (backend)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C7CEE0"/>
                </a:solidFill>
                <a:latin typeface="Calibri"/>
              </a:rPr>
              <a:t>▸  Netlify (dashboard)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VERIFIED, NOT JUST WRITTEN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Testing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34+ automated backend tests</a:t>
            </a:r>
            <a:r>
              <a:rPr sz="1500">
                <a:solidFill>
                  <a:srgbClr val="C7CEE0"/>
                </a:solidFill>
                <a:latin typeface="Calibri"/>
              </a:rPr>
              <a:t>  —  feature-contract skew tests, model-scoring tests, fallback tests, brand/serial mismatch overrides, retraining safety-gate tests, and more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Real browser verification, not just unit tests</a:t>
            </a:r>
            <a:r>
              <a:rPr sz="1500">
                <a:solidFill>
                  <a:srgbClr val="C7CEE0"/>
                </a:solidFill>
                <a:latin typeface="Calibri"/>
              </a:rPr>
              <a:t>  —  Playwright drives an actual headless Chromium browser to click through login, submissions, and theme toggles, screenshotting the result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▸  Byte-for-byte build verification</a:t>
            </a:r>
            <a:r>
              <a:rPr sz="1500">
                <a:solidFill>
                  <a:srgbClr val="C7CEE0"/>
                </a:solidFill>
                <a:latin typeface="Calibri"/>
              </a:rPr>
              <a:t>  —  every dashboard change is checked to confirm the built file exactly matches its source, catching silent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206240"/>
            <a:ext cx="9784080" cy="1828800"/>
          </a:xfrm>
          <a:prstGeom prst="roundRect">
            <a:avLst>
              <a:gd name="adj" fmla="val 6000"/>
            </a:avLst>
          </a:prstGeom>
          <a:solidFill>
            <a:srgbClr val="040A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38912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A REAL BUG CAUGHT THIS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754880"/>
            <a:ext cx="9235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7CEE0"/>
                </a:solidFill>
                <a:latin typeface="Calibri"/>
              </a:rPr>
              <a:t>A light-mode CSS fix silently reset a gradient-text property via a shorthand-property quirk, making a heading invisible. Caught by inspecting computed styles in a real browser — not visible from reading the CSS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DELIBERATELY DEFERRED, NOT FORGOTTEN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F"/>
                </a:solidFill>
                <a:latin typeface="Calibri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C7CEE0"/>
                </a:solidFill>
                <a:latin typeface="Calibri"/>
              </a:rPr>
              <a:t>▸  Calibrate tier thresholds against precision/recall targets, with a time-based train/test split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C7CEE0"/>
                </a:solidFill>
                <a:latin typeface="Calibri"/>
              </a:rPr>
              <a:t>▸  Expand the LLM-based NLP path with a fine-tuned or fully custom-trained trust model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C7CEE0"/>
                </a:solidFill>
                <a:latin typeface="Calibri"/>
              </a:rPr>
              <a:t>▸  Real vision-model integration for Agent 3 (today's synthetic-metadata scoring → a real model, same interface)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C7CEE0"/>
                </a:solidFill>
                <a:latin typeface="Calibri"/>
              </a:rPr>
              <a:t>▸  Cloudflare Access / stronger edge authentication for production deployments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C7CEE0"/>
                </a:solidFill>
                <a:latin typeface="Calibri"/>
              </a:rPr>
              <a:t>▸  Broader analyst-feedback retraining once there's a longer track record of labeled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C"/>
                </a:solidFill>
                <a:latin typeface="Calibri"/>
              </a:rPr>
              <a:t>ReturnShield AI  ·  Prototype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737360"/>
            <a:ext cx="914400" cy="9144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3B82F6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8FA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93AC"/>
                </a:solidFill>
                <a:latin typeface="Calibri"/>
              </a:rPr>
              <a:t>ReturnShield AI — Prototype built on synthetic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